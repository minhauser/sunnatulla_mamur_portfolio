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1" r:id="rId1"/>
  </p:sldMasterIdLst>
  <p:notesMasterIdLst>
    <p:notesMasterId r:id="rId3"/>
  </p:notesMasterIdLst>
  <p:sldIdLst>
    <p:sldId id="294" r:id="rId2"/>
  </p:sldIdLst>
  <p:sldSz cx="21599525" cy="32399288"/>
  <p:notesSz cx="6858000" cy="9144000"/>
  <p:defaultTextStyle>
    <a:lvl1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1pPr>
    <a:lvl2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2pPr>
    <a:lvl3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3pPr>
    <a:lvl4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4pPr>
    <a:lvl5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5pPr>
    <a:lvl6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6pPr>
    <a:lvl7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7pPr>
    <a:lvl8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8pPr>
    <a:lvl9pPr>
      <a:defRPr sz="1773">
        <a:solidFill>
          <a:srgbClr val="CEF0F8"/>
        </a:solidFill>
        <a:latin typeface="+mn-lt"/>
        <a:ea typeface="+mn-ea"/>
        <a:cs typeface="+mn-cs"/>
        <a:sym typeface="Avenir Roman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6803" userDrawn="1">
          <p15:clr>
            <a:srgbClr val="A4A3A4"/>
          </p15:clr>
        </p15:guide>
        <p15:guide id="3" pos="67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39C"/>
    <a:srgbClr val="8B9091"/>
    <a:srgbClr val="8B734B"/>
    <a:srgbClr val="4D207A"/>
    <a:srgbClr val="72C7F0"/>
    <a:srgbClr val="1F9AD6"/>
    <a:srgbClr val="24549C"/>
    <a:srgbClr val="1E9AD6"/>
    <a:srgbClr val="1F5188"/>
    <a:srgbClr val="A6C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F0F0F0"/>
          </a:solidFill>
        </a:fill>
      </a:tcStyle>
    </a:wholeTbl>
    <a:band2H>
      <a:tcTxStyle/>
      <a:tcStyle>
        <a:tcBdr/>
        <a:fill>
          <a:solidFill>
            <a:srgbClr val="F8F8F8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7D7D7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ACFD1"/>
          </a:solidFill>
        </a:fill>
      </a:tcStyle>
    </a:wholeTbl>
    <a:band2H>
      <a:tcTxStyle/>
      <a:tcStyle>
        <a:tcBdr/>
        <a:fill>
          <a:solidFill>
            <a:srgbClr val="E6E8E9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0C4E5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6FCFE"/>
          </a:solidFill>
        </a:fill>
      </a:tcStyle>
    </a:wholeTbl>
    <a:band2H>
      <a:tcTxStyle/>
      <a:tcStyle>
        <a:tcBdr/>
        <a:fill>
          <a:solidFill>
            <a:srgbClr val="1BADCF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D7D7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BADCF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EF0F8"/>
              </a:solidFill>
              <a:prstDash val="solid"/>
              <a:bevel/>
            </a:ln>
          </a:top>
          <a:bottom>
            <a:ln w="25400" cap="flat">
              <a:solidFill>
                <a:srgbClr val="CEF0F8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D7D7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Avenir Black"/>
          <a:ea typeface="Avenir Black"/>
          <a:cs typeface="Avenir Black"/>
        </a:font>
        <a:srgbClr val="CEF0F8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EDF9FC"/>
          </a:solidFill>
        </a:fill>
      </a:tcStyle>
    </a:wholeTbl>
    <a:band2H>
      <a:tcTxStyle/>
      <a:tcStyle>
        <a:tcBdr/>
        <a:fill>
          <a:solidFill>
            <a:srgbClr val="F6FCFE"/>
          </a:solidFill>
        </a:fill>
      </a:tcStyle>
    </a:band2H>
    <a:firstCol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Col>
    <a:la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38100" cap="flat">
              <a:solidFill>
                <a:srgbClr val="1BADCF"/>
              </a:solidFill>
              <a:prstDash val="solid"/>
              <a:bevel/>
            </a:ln>
          </a:top>
          <a:bottom>
            <a:ln w="127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lastRow>
    <a:firstRow>
      <a:tcTxStyle b="on" i="on">
        <a:font>
          <a:latin typeface="Avenir Black"/>
          <a:ea typeface="Avenir Black"/>
          <a:cs typeface="Avenir Black"/>
        </a:font>
        <a:srgbClr val="1BADCF"/>
      </a:tcTxStyle>
      <a:tcStyle>
        <a:tcBdr>
          <a:left>
            <a:ln w="12700" cap="flat">
              <a:solidFill>
                <a:srgbClr val="1BADCF"/>
              </a:solidFill>
              <a:prstDash val="solid"/>
              <a:bevel/>
            </a:ln>
          </a:left>
          <a:right>
            <a:ln w="12700" cap="flat">
              <a:solidFill>
                <a:srgbClr val="1BADCF"/>
              </a:solidFill>
              <a:prstDash val="solid"/>
              <a:bevel/>
            </a:ln>
          </a:right>
          <a:top>
            <a:ln w="12700" cap="flat">
              <a:solidFill>
                <a:srgbClr val="1BADCF"/>
              </a:solidFill>
              <a:prstDash val="solid"/>
              <a:bevel/>
            </a:ln>
          </a:top>
          <a:bottom>
            <a:ln w="38100" cap="flat">
              <a:solidFill>
                <a:srgbClr val="1BADCF"/>
              </a:solidFill>
              <a:prstDash val="solid"/>
              <a:bevel/>
            </a:ln>
          </a:bottom>
          <a:insideH>
            <a:ln w="12700" cap="flat">
              <a:solidFill>
                <a:srgbClr val="1BADCF"/>
              </a:solidFill>
              <a:prstDash val="solid"/>
              <a:bevel/>
            </a:ln>
          </a:insideH>
          <a:insideV>
            <a:ln w="12700" cap="flat">
              <a:solidFill>
                <a:srgbClr val="1BADCF"/>
              </a:solidFill>
              <a:prstDash val="solid"/>
              <a:bevel/>
            </a:ln>
          </a:insideV>
        </a:tcBdr>
        <a:fill>
          <a:solidFill>
            <a:srgbClr val="CEF0F8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24" d="100"/>
          <a:sy n="24" d="100"/>
        </p:scale>
        <p:origin x="3426" y="0"/>
      </p:cViewPr>
      <p:guideLst>
        <p:guide orient="horz" pos="10204"/>
        <p:guide pos="6803"/>
        <p:guide pos="67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1450834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1pPr>
    <a:lvl2pPr indent="168878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2pPr>
    <a:lvl3pPr indent="337754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3pPr>
    <a:lvl4pPr indent="50663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4pPr>
    <a:lvl5pPr indent="67550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5pPr>
    <a:lvl6pPr indent="844386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6pPr>
    <a:lvl7pPr indent="1013261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7pPr>
    <a:lvl8pPr indent="1182139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8pPr>
    <a:lvl9pPr indent="1351017" defTabSz="337754">
      <a:lnSpc>
        <a:spcPct val="125000"/>
      </a:lnSpc>
      <a:defRPr sz="1773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01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10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45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57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87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44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7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1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1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720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1391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20000"/>
                <a:lumOff val="80000"/>
              </a:schemeClr>
            </a:gs>
            <a:gs pos="0">
              <a:schemeClr val="accent6">
                <a:lumMod val="20000"/>
                <a:lumOff val="80000"/>
              </a:schemeClr>
            </a:gs>
            <a:gs pos="66000">
              <a:schemeClr val="bg1"/>
            </a:gs>
            <a:gs pos="33000">
              <a:schemeClr val="accent5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EF64-376B-4AE8-9729-79941913CF69}" type="datetimeFigureOut">
              <a:rPr lang="ko-KR" altLang="en-US" smtClean="0"/>
              <a:pPr/>
              <a:t>2025-10-14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7EC6-A2C4-4861-9A13-364CAA766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4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-12040048" y="-47592345"/>
            <a:ext cx="52469143" cy="79991633"/>
            <a:chOff x="62553" y="-1"/>
            <a:chExt cx="21599525" cy="32399288"/>
          </a:xfrm>
        </p:grpSpPr>
        <p:sp>
          <p:nvSpPr>
            <p:cNvPr id="28" name="직사각형 27"/>
            <p:cNvSpPr/>
            <p:nvPr/>
          </p:nvSpPr>
          <p:spPr>
            <a:xfrm>
              <a:off x="62553" y="-1"/>
              <a:ext cx="21599525" cy="32399288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470880" y="325267"/>
              <a:ext cx="20665399" cy="4476412"/>
            </a:xfrm>
            <a:prstGeom prst="rect">
              <a:avLst/>
            </a:prstGeom>
            <a:solidFill>
              <a:srgbClr val="24549C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70567" y="496378"/>
              <a:ext cx="20231100" cy="4095750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00679" y="2275514"/>
              <a:ext cx="3605796" cy="635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 </a:t>
              </a:r>
              <a:r>
                <a:rPr lang="en-US" altLang="ko-KR" sz="9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6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케어링크</a:t>
              </a:r>
              <a:endParaRPr lang="ko-KR" altLang="en-US" sz="9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77433" y="5166906"/>
              <a:ext cx="13841420" cy="1047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지도교수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5400" b="1" dirty="0" err="1">
                  <a:solidFill>
                    <a:schemeClr val="tx1"/>
                  </a:solidFill>
                  <a:latin typeface="+mn-ea"/>
                </a:rPr>
                <a:t>전창완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 교수님</a:t>
              </a:r>
              <a:endParaRPr lang="en-US" altLang="ko-KR" sz="5400" b="1" dirty="0">
                <a:solidFill>
                  <a:schemeClr val="tx1"/>
                </a:solidFill>
                <a:latin typeface="+mn-ea"/>
              </a:endParaRPr>
            </a:p>
            <a:p>
              <a:r>
                <a:rPr lang="ko-KR" altLang="en-US" sz="5400" b="1" dirty="0" err="1">
                  <a:solidFill>
                    <a:schemeClr val="tx1"/>
                  </a:solidFill>
                  <a:latin typeface="+mn-ea"/>
                </a:rPr>
                <a:t>참가학생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사물인터넷학과</a:t>
              </a:r>
              <a:endParaRPr lang="en-US" altLang="ko-KR" sz="5400" b="1" dirty="0">
                <a:solidFill>
                  <a:schemeClr val="tx1"/>
                </a:solidFill>
                <a:latin typeface="+mn-ea"/>
              </a:endParaRPr>
            </a:p>
            <a:p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              20221332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민병희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20171533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박찬종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20191506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최재혁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20201508 </a:t>
              </a:r>
              <a:r>
                <a:rPr lang="ko-KR" altLang="en-US" sz="5400" b="1" dirty="0">
                  <a:solidFill>
                    <a:schemeClr val="tx1"/>
                  </a:solidFill>
                  <a:latin typeface="+mn-ea"/>
                </a:rPr>
                <a:t>양기석</a:t>
              </a:r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, 20221471 </a:t>
              </a:r>
              <a:r>
                <a:rPr lang="ko-KR" altLang="en-US" sz="5400" b="1" dirty="0" err="1">
                  <a:solidFill>
                    <a:schemeClr val="tx1"/>
                  </a:solidFill>
                  <a:latin typeface="+mn-ea"/>
                </a:rPr>
                <a:t>순나툴러</a:t>
              </a:r>
              <a:endParaRPr lang="en-US" altLang="ko-KR" sz="54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77433" y="30733264"/>
              <a:ext cx="20665399" cy="1340757"/>
            </a:xfrm>
            <a:prstGeom prst="rect">
              <a:avLst/>
            </a:prstGeom>
            <a:solidFill>
              <a:srgbClr val="24549C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4436689" y="30907434"/>
              <a:ext cx="16464977" cy="986973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5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450141" y="7286459"/>
              <a:ext cx="20671951" cy="1088271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제작 배경 및 목적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470879" y="19144285"/>
              <a:ext cx="10391437" cy="1123950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내용 및 설명</a:t>
              </a:r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11167117" y="19144285"/>
              <a:ext cx="9954975" cy="1123950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 err="1">
                  <a:solidFill>
                    <a:schemeClr val="bg1"/>
                  </a:solidFill>
                  <a:latin typeface="+mn-ea"/>
                </a:rPr>
                <a:t>개발결과</a:t>
              </a:r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 및 기대효과</a:t>
              </a:r>
            </a:p>
          </p:txBody>
        </p:sp>
        <p:sp>
          <p:nvSpPr>
            <p:cNvPr id="51" name="모서리가 둥근 직사각형 50"/>
            <p:cNvSpPr/>
            <p:nvPr/>
          </p:nvSpPr>
          <p:spPr>
            <a:xfrm>
              <a:off x="470880" y="12376836"/>
              <a:ext cx="20671951" cy="1088271"/>
            </a:xfrm>
            <a:prstGeom prst="roundRect">
              <a:avLst/>
            </a:prstGeom>
            <a:solidFill>
              <a:srgbClr val="24539C"/>
            </a:solidFill>
            <a:ln w="444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0" b="1" dirty="0">
                  <a:solidFill>
                    <a:schemeClr val="bg1"/>
                  </a:solidFill>
                  <a:latin typeface="+mn-ea"/>
                </a:rPr>
                <a:t>작품개요 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46922" y="30915654"/>
              <a:ext cx="3620278" cy="986973"/>
            </a:xfrm>
            <a:prstGeom prst="rect">
              <a:avLst/>
            </a:prstGeom>
            <a:solidFill>
              <a:schemeClr val="bg1"/>
            </a:solidFill>
            <a:ln w="444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5400" b="1" dirty="0">
                  <a:solidFill>
                    <a:schemeClr val="tx1"/>
                  </a:solidFill>
                  <a:latin typeface="+mn-ea"/>
                </a:rPr>
                <a:t>IoT-01</a:t>
              </a: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77433" y="20431447"/>
              <a:ext cx="10384883" cy="100628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작품설명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1. </a:t>
              </a:r>
              <a:r>
                <a:rPr lang="en-US" altLang="ko-KR" sz="4300" dirty="0" err="1">
                  <a:solidFill>
                    <a:schemeClr val="tx1"/>
                  </a:solidFill>
                  <a:latin typeface="+mn-ea"/>
                </a:rPr>
                <a:t>CareLink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는 웨어러블 기기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-&gt;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모바일 앱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-&gt;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서버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-&gt;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관리자 페이지로 이어지는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End-to-End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구주를 통해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착용자의 생체 데이터를 실시간으로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수집하고 분석합니다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2.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센서에서 수집된 심박수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체온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위치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자세 정보는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BLE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통신을 통해 앱으로 전달되며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앱은 데이터를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Mobius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서버로 전송합니다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3.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서버는 이를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LSTM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딥러닝 모델에 입력하여 착용자의 상태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예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활동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휴식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이상 상태 등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을 분류하고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보호자 및 기관 관리자 페이지에서 즉시 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확인할 수 있습니다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4.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이러한 구조는 응급 상황의 조기 발견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맞춤형 건강 데이터 관리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사회적 돌봄 시스템의 부담 완화라는 의미 있는 가치를 제공합니다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11167117" y="20469321"/>
              <a:ext cx="9954975" cy="100628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개발 결과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기대 효과 및 향후 발전 계획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marL="742950" indent="-742950" algn="l">
                <a:buAutoNum type="arabicPeriod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착용자 상태 이상을 조기 감지하여 응급 상황 대응 시간 단축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742950" indent="-742950" algn="l">
                <a:buAutoNum type="arabicPeriod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보호자 및 의료기관의 모니터링 효율 향상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742950" indent="-742950" algn="l">
                <a:buAutoNum type="arabicPeriod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데이터 기반의 개인 맞춤형 건강관리 가능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742950" indent="-742950" algn="l">
                <a:buAutoNum type="arabicPeriod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사회적 돌봄 부담 완화 및 지속 가능한 헬스케어 시스템 구축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742950" indent="-742950" algn="l">
                <a:buAutoNum type="arabicPeriod"/>
              </a:pP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477433" y="8539447"/>
              <a:ext cx="20671951" cy="3511468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  제작배경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: *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세계에서 가장 빠른 속도로 고령화가 진행되고 있으며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이에 따라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인 가구 노인과 만성질환자의 비율이 급격히 증가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          *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돌봄 인력 부족과 사회적 부담 증가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          *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효율적인 건강관리와 응급 상황 대응 체계 구축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          *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코로나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19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이후 </a:t>
              </a: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비대면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돌봄과 원격 헬스케어에 대한 수요 급증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</a:t>
              </a:r>
            </a:p>
            <a:p>
              <a:pPr algn="l"/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  목적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:    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웨어러블 디바이스르 통해 사용자의 생체 데이터를 실시간으로 수집 분석하고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이를 보호자와 기관이 동시에 모니터링할 수 있는 지능형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          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건강관리 시스템을 구축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477433" y="13465107"/>
              <a:ext cx="20671951" cy="5197156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85800" indent="-685800" algn="l">
                <a:buFontTx/>
                <a:buChar char="-"/>
              </a:pP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685800" indent="-685800" algn="l">
                <a:buFontTx/>
                <a:buChar char="-"/>
              </a:pP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작품개요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  <a:br>
                <a:rPr lang="en-US" altLang="ko-KR" sz="43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en-US" altLang="ko-KR" sz="4300" dirty="0" err="1">
                  <a:solidFill>
                    <a:schemeClr val="tx1"/>
                  </a:solidFill>
                  <a:latin typeface="+mn-ea"/>
                </a:rPr>
                <a:t>CareLink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는 웨어러블 기기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모바일 애플리케이션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Mobius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서버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관리자 페이지로 구성된 통합 헬스케어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시스템으로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착용자의 심박수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체온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,GPS,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낙상 데이터를 실시간으로 수집하고 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BLE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통신을 통해 앱과 서버에 전송하여 분석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시각화한다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  <a:br>
                <a:rPr lang="en-US" altLang="ko-KR" sz="43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 LSTM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딥러닝 모델을 적용해 착용자의 상태를 예측하고 보호자나 기관이 즉시 확인할 수 있도록 함으로써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개인 맞춤형 </a:t>
              </a: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비대면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 건강관리와</a:t>
              </a:r>
              <a:br>
                <a:rPr lang="en-US" altLang="ko-KR" sz="43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 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응급 상황 조기 대응을 가능하게 한다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algn="l"/>
              <a:br>
                <a:rPr lang="en-US" altLang="ko-KR" sz="4300" dirty="0">
                  <a:solidFill>
                    <a:schemeClr val="tx1"/>
                  </a:solidFill>
                  <a:latin typeface="+mn-ea"/>
                </a:rPr>
              </a:br>
              <a:br>
                <a:rPr lang="en-US" altLang="ko-KR" sz="43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시스템 설계 및 핵심 기능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웨어러블 기기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4300" dirty="0" err="1">
                  <a:solidFill>
                    <a:schemeClr val="tx1"/>
                  </a:solidFill>
                  <a:latin typeface="+mn-ea"/>
                </a:rPr>
                <a:t>심박수센서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체온센서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4300" dirty="0" err="1">
                  <a:solidFill>
                    <a:schemeClr val="tx1"/>
                  </a:solidFill>
                  <a:latin typeface="+mn-ea"/>
                </a:rPr>
                <a:t>gps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센서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낙상감지센서 탑재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모바일 애플리케이션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(Flutter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기반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): BLE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통신을 통해 센서 데이터를 수집하고 시각화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보호자들 실시간 모니터링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서버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(Mobius + </a:t>
              </a:r>
              <a:r>
                <a:rPr lang="en-US" altLang="ko-KR" sz="4300" dirty="0" err="1">
                  <a:solidFill>
                    <a:schemeClr val="tx1"/>
                  </a:solidFill>
                  <a:latin typeface="+mn-ea"/>
                </a:rPr>
                <a:t>FastAPI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):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실시간으로 환자의 데이터 저장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딥러닝 분석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관리자 페이지와 연동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관리자 페이지</a:t>
              </a:r>
              <a:r>
                <a:rPr lang="en-US" altLang="ko-KR" sz="4300" dirty="0">
                  <a:solidFill>
                    <a:schemeClr val="tx1"/>
                  </a:solidFill>
                  <a:latin typeface="+mn-ea"/>
                </a:rPr>
                <a:t>(next.js): </a:t>
              </a:r>
              <a:r>
                <a:rPr lang="ko-KR" altLang="en-US" sz="4300" dirty="0">
                  <a:solidFill>
                    <a:schemeClr val="tx1"/>
                  </a:solidFill>
                  <a:latin typeface="+mn-ea"/>
                </a:rPr>
                <a:t>기관 및 보호자가 환자 상태를 실시간 모니터링</a:t>
              </a: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marL="571500" indent="-571500" algn="l">
                <a:buFont typeface="Arial" panose="020B0604020202020204" pitchFamily="34" charset="0"/>
                <a:buChar char="•"/>
              </a:pPr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  <a:p>
              <a:pPr algn="l"/>
              <a:endParaRPr lang="en-US" altLang="ko-KR" sz="43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295" y="801039"/>
              <a:ext cx="7857225" cy="727521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4660899" y="31090095"/>
              <a:ext cx="15926021" cy="608566"/>
              <a:chOff x="4660899" y="31090095"/>
              <a:chExt cx="15926021" cy="608566"/>
            </a:xfrm>
          </p:grpSpPr>
          <p:grpSp>
            <p:nvGrpSpPr>
              <p:cNvPr id="36" name="그룹 35"/>
              <p:cNvGrpSpPr/>
              <p:nvPr/>
            </p:nvGrpSpPr>
            <p:grpSpPr>
              <a:xfrm>
                <a:off x="4660899" y="31090095"/>
                <a:ext cx="15926021" cy="608566"/>
                <a:chOff x="779937" y="31088952"/>
                <a:chExt cx="19381551" cy="740609"/>
              </a:xfrm>
            </p:grpSpPr>
            <p:pic>
              <p:nvPicPr>
                <p:cNvPr id="9" name="그림 8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179170" y="31187747"/>
                  <a:ext cx="1982318" cy="561712"/>
                </a:xfrm>
                <a:prstGeom prst="rect">
                  <a:avLst/>
                </a:prstGeom>
              </p:spPr>
            </p:pic>
            <p:pic>
              <p:nvPicPr>
                <p:cNvPr id="10" name="그림 9"/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397" r="6454"/>
                <a:stretch/>
              </p:blipFill>
              <p:spPr>
                <a:xfrm>
                  <a:off x="779937" y="31088952"/>
                  <a:ext cx="3385663" cy="740609"/>
                </a:xfrm>
                <a:prstGeom prst="rect">
                  <a:avLst/>
                </a:prstGeom>
              </p:spPr>
            </p:pic>
            <p:pic>
              <p:nvPicPr>
                <p:cNvPr id="25" name="그림 24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740" b="12801"/>
                <a:stretch/>
              </p:blipFill>
              <p:spPr>
                <a:xfrm>
                  <a:off x="4427999" y="31174233"/>
                  <a:ext cx="4078528" cy="539550"/>
                </a:xfrm>
                <a:prstGeom prst="rect">
                  <a:avLst/>
                </a:prstGeom>
              </p:spPr>
            </p:pic>
            <p:pic>
              <p:nvPicPr>
                <p:cNvPr id="26" name="그림 25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135" t="18578" r="11532" b="18837"/>
                <a:stretch/>
              </p:blipFill>
              <p:spPr>
                <a:xfrm>
                  <a:off x="8842766" y="31131321"/>
                  <a:ext cx="2290882" cy="689578"/>
                </a:xfrm>
                <a:prstGeom prst="rect">
                  <a:avLst/>
                </a:prstGeom>
              </p:spPr>
            </p:pic>
            <p:pic>
              <p:nvPicPr>
                <p:cNvPr id="27" name="그림 2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99465" y="31130488"/>
                  <a:ext cx="2581595" cy="614907"/>
                </a:xfrm>
                <a:prstGeom prst="rect">
                  <a:avLst/>
                </a:prstGeom>
              </p:spPr>
            </p:pic>
          </p:grpSp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26" t="14785" r="3018" b="15385"/>
              <a:stretch/>
            </p:blipFill>
            <p:spPr>
              <a:xfrm>
                <a:off x="15947064" y="31160171"/>
                <a:ext cx="2654470" cy="516976"/>
              </a:xfrm>
              <a:prstGeom prst="rect">
                <a:avLst/>
              </a:prstGeom>
            </p:spPr>
          </p:pic>
        </p:grp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76B8D029-CFAF-5710-F44B-02A19EF97B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07780" y="-13787466"/>
            <a:ext cx="11102400" cy="57377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DA142E-5B5A-B0B3-AD0E-B4A7774B9C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36506" y="-7830797"/>
            <a:ext cx="11102400" cy="6095435"/>
          </a:xfrm>
          <a:prstGeom prst="rect">
            <a:avLst/>
          </a:prstGeom>
        </p:spPr>
      </p:pic>
      <p:pic>
        <p:nvPicPr>
          <p:cNvPr id="19" name="Picture 7">
            <a:extLst>
              <a:ext uri="{FF2B5EF4-FFF2-40B4-BE49-F238E27FC236}">
                <a16:creationId xmlns:a16="http://schemas.microsoft.com/office/drawing/2014/main" id="{48CB51E9-D5DF-FFC4-336C-9AE15868FB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564645" y="13874141"/>
            <a:ext cx="8280866" cy="5385600"/>
          </a:xfrm>
          <a:prstGeom prst="rect">
            <a:avLst/>
          </a:prstGeom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726CC983-7DEE-51ED-A91D-CCFD6556D1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4039" y="13506962"/>
            <a:ext cx="9057201" cy="5385363"/>
          </a:xfrm>
          <a:prstGeom prst="rect">
            <a:avLst/>
          </a:prstGeom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B271D579-5F24-62D6-409D-D084E780F0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6705636" y="19573921"/>
            <a:ext cx="6939577" cy="7558141"/>
          </a:xfrm>
          <a:prstGeom prst="rect">
            <a:avLst/>
          </a:prstGeom>
          <a:effectLst>
            <a:outerShdw blurRad="89655" dist="184638" dir="2700000">
              <a:srgbClr val="000000">
                <a:alpha val="50000"/>
              </a:srgbClr>
            </a:outerShdw>
          </a:effectLst>
        </p:spPr>
      </p:pic>
      <p:pic>
        <p:nvPicPr>
          <p:cNvPr id="29" name="Picture 9">
            <a:extLst>
              <a:ext uri="{FF2B5EF4-FFF2-40B4-BE49-F238E27FC236}">
                <a16:creationId xmlns:a16="http://schemas.microsoft.com/office/drawing/2014/main" id="{3EE1219B-DE83-D95A-EADE-FDF53B775F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80304" y="19453690"/>
            <a:ext cx="6567755" cy="7560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370B60D-127E-F349-0FB2-05E6AEB5039D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6344166" y="7680902"/>
            <a:ext cx="5541692" cy="951984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2B1E94E-458B-B5BA-6DCC-7C61D8BE59AD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23728013" y="7482122"/>
            <a:ext cx="5540400" cy="95184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A074959-B22C-9F16-B637-F40B28F3C12A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31110568" y="7366597"/>
            <a:ext cx="5540400" cy="95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0696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44450">
          <a:noFill/>
        </a:ln>
      </a:spPr>
      <a:bodyPr rtlCol="0" anchor="ctr"/>
      <a:lstStyle>
        <a:defPPr algn="ctr">
          <a:defRPr sz="5400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D7D7"/>
      </a:accent1>
      <a:accent2>
        <a:srgbClr val="0D5667"/>
      </a:accent2>
      <a:accent3>
        <a:srgbClr val="8F8F8F"/>
      </a:accent3>
      <a:accent4>
        <a:srgbClr val="1794B1"/>
      </a:accent4>
      <a:accent5>
        <a:srgbClr val="E6E6E6"/>
      </a:accent5>
      <a:accent6>
        <a:srgbClr val="0C4E5D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ADCF"/>
        </a:solidFill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CEF0F8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7D7D7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CEF0F8"/>
            </a:solidFill>
            <a:effectLst/>
            <a:uFillTx/>
            <a:latin typeface="+mn-lt"/>
            <a:ea typeface="+mn-ea"/>
            <a:cs typeface="+mn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10048</TotalTime>
  <Words>420</Words>
  <Application>Microsoft Office PowerPoint</Application>
  <PresentationFormat>사용자 지정</PresentationFormat>
  <Paragraphs>74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Avenir Roman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oprel-mac</dc:creator>
  <cp:lastModifiedBy>기석 양</cp:lastModifiedBy>
  <cp:revision>256</cp:revision>
  <dcterms:modified xsi:type="dcterms:W3CDTF">2025-10-14T07:17:32Z</dcterms:modified>
</cp:coreProperties>
</file>